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0" r:id="rId21"/>
    <p:sldId id="261" r:id="rId11"/>
    <p:sldId id="262" r:id="rId12"/>
    <p:sldId id="263" r:id="rId13"/>
    <p:sldId id="264" r:id="rId14"/>
    <p:sldId id="269" r:id="rId20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5ChLNayvMR/q7PMMfXQwgxUuH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customschemas.google.com/relationships/presentationmetadata" Target="metadata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Without (today's booking)</c:v>
                </c:pt>
              </c:strCache>
            </c:strRef>
          </c:tx>
          <c:spPr>
            <a:solidFill>
              <a:srgbClr val="A3ABB6"/>
            </a:solidFill>
          </c:spPr>
          <c:cat>
            <c:strRef>
              <c:f>Sheet1!$A$2:$A$6</c:f>
              <c:strCache>
                <c:ptCount val="5"/>
                <c:pt idx="0">
                  <c:v>Department's 55 days</c:v>
                </c:pt>
                <c:pt idx="1">
                  <c:v>Its busiest days (70+ patients)</c:v>
                </c:pt>
                <c:pt idx="2">
                  <c:v>12 synthetic weeks</c:v>
                </c:pt>
                <c:pt idx="3">
                  <c:v>One busy synthetic day (87)</c:v>
                </c:pt>
                <c:pt idx="4">
                  <c:v>150-min breakdown, live re-plan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108.6</c:v>
                </c:pt>
                <c:pt idx="1">
                  <c:v>130</c:v>
                </c:pt>
                <c:pt idx="2">
                  <c:v>82</c:v>
                </c:pt>
                <c:pt idx="3">
                  <c:v>210</c:v>
                </c:pt>
                <c:pt idx="4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RAD-SMART</c:v>
                </c:pt>
              </c:strCache>
            </c:strRef>
          </c:tx>
          <c:spPr>
            <a:solidFill>
              <a:srgbClr val="1F3DA9"/>
            </a:solidFill>
          </c:spPr>
          <c:cat>
            <c:strRef>
              <c:f>Sheet1!$A$2:$A$6</c:f>
              <c:strCache>
                <c:ptCount val="5"/>
                <c:pt idx="0">
                  <c:v>Department's 55 days</c:v>
                </c:pt>
                <c:pt idx="1">
                  <c:v>Its busiest days (70+ patients)</c:v>
                </c:pt>
                <c:pt idx="2">
                  <c:v>12 synthetic weeks</c:v>
                </c:pt>
                <c:pt idx="3">
                  <c:v>One busy synthetic day (87)</c:v>
                </c:pt>
                <c:pt idx="4">
                  <c:v>150-min breakdown, live re-plan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70.4</c:v>
                </c:pt>
                <c:pt idx="1">
                  <c:v>70</c:v>
                </c:pt>
                <c:pt idx="2">
                  <c:v>49</c:v>
                </c:pt>
                <c:pt idx="3">
                  <c:v>76</c:v>
                </c:pt>
                <c:pt idx="4">
                  <c:v>110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232F3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4"/>
          <p:cNvSpPr txBox="1"/>
          <p:nvPr/>
        </p:nvSpPr>
        <p:spPr>
          <a:xfrm>
            <a:off x="11109960" y="6547104"/>
            <a:ext cx="576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0" wrap="square" tIns="3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9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psraghothamrao8.github.io/RAD-SMART/#demo" TargetMode="External"/><Relationship Id="rId9" Type="http://schemas.openxmlformats.org/officeDocument/2006/relationships/hyperlink" Target="https://github.com/psraghothamrao8/RAD-SMART" TargetMode="External"/><Relationship Id="rId10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psraghothamrao8.github.io/RAD-SMART/" TargetMode="External"/><Relationship Id="rId5" Type="http://schemas.openxmlformats.org/officeDocument/2006/relationships/hyperlink" Target="https://psraghothamrao8.github.io/RAD-SMART/#demo" TargetMode="External"/><Relationship Id="rId6" Type="http://schemas.openxmlformats.org/officeDocument/2006/relationships/hyperlink" Target="https://github.com/psraghothamrao8/RAD-SMAR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731520"/>
            <a:ext cx="8183879" cy="112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303520" y="1828800"/>
            <a:ext cx="1554480" cy="64008"/>
          </a:xfrm>
          <a:prstGeom prst="rect">
            <a:avLst/>
          </a:prstGeom>
          <a:solidFill>
            <a:srgbClr val="0D8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FINAL SUBMISSION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RAD-SMART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3675887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AI-assisted radiotherapy scheduling inside CARE: one standing time per course, re-planning in seconds after a breakdown, and messages to patients in their own language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11680" y="52578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8743"/>
                </a:solidFill>
                <a:latin typeface="Arial"/>
                <a:ea typeface="Arial"/>
                <a:cs typeface="Arial"/>
                <a:sym typeface="Arial"/>
              </a:rPr>
              <a:t>TEAM NAME  RAD-SMART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309360" y="5257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TEAM CODE  YU8PAK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TITLE</a:t>
            </a:r>
            <a:endParaRPr/>
          </a:p>
        </p:txBody>
      </p:sp>
      <p:sp>
        <p:nvSpPr>
          <p:cNvPr id="94" name="Track"/>
          <p:cNvSpPr txBox="1"/>
          <p:nvPr/>
        </p:nvSpPr>
        <p:spPr>
          <a:xfrm>
            <a:off x="1645920" y="452628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0" i="0">
                <a:solidFill>
                  <a:srgbClr val="5D6A79"/>
                </a:solidFill>
                <a:latin typeface="Calibri"/>
              </a:rPr>
              <a:t>Cancer track  ·  Use case 04: Clinic Operations &amp; Patient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42338" y="326632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Team Overview &amp; Background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01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Clinicians from the department RAD-SMART is built for, and the engineers who built it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84048" y="137160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THE TEAM</a:t>
            </a:r>
          </a:p>
        </p:txBody>
      </p:sp>
      <p:sp>
        <p:nvSpPr>
          <p:cNvPr id="103" name="Member: Dr Akshay Dinesan"/>
          <p:cNvSpPr/>
          <p:nvPr/>
        </p:nvSpPr>
        <p:spPr>
          <a:xfrm>
            <a:off x="384048" y="169164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21207" y="1828800"/>
            <a:ext cx="457200" cy="457200"/>
          </a:xfrm>
          <a:prstGeom prst="ellipse">
            <a:avLst/>
          </a:prstGeom>
          <a:solidFill>
            <a:srgbClr val="0D874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207" y="23774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Dr Akshay Dinesan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D8743"/>
                </a:solidFill>
                <a:latin typeface="Calibri"/>
              </a:rPr>
              <a:t>Team leader · doctor partner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Clinical owner and pilot sponsor. Wrote the problem statement from daily work in the department</a:t>
            </a:r>
          </a:p>
        </p:txBody>
      </p:sp>
      <p:sp>
        <p:nvSpPr>
          <p:cNvPr id="106" name="Member: Dr Shirley Lewis Salins"/>
          <p:cNvSpPr/>
          <p:nvPr/>
        </p:nvSpPr>
        <p:spPr>
          <a:xfrm>
            <a:off x="2852928" y="169164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990088" y="1828800"/>
            <a:ext cx="457200" cy="457200"/>
          </a:xfrm>
          <a:prstGeom prst="ellipse">
            <a:avLst/>
          </a:prstGeom>
          <a:solidFill>
            <a:srgbClr val="0D874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90088" y="23774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Dr Shirley Lewis Salins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D8743"/>
                </a:solidFill>
                <a:latin typeface="Calibri"/>
              </a:rPr>
              <a:t>Doctor partner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Clinical review of the department's rules and of the design; joins the pilot</a:t>
            </a:r>
          </a:p>
        </p:txBody>
      </p:sp>
      <p:sp>
        <p:nvSpPr>
          <p:cNvPr id="109" name="Member: Dr Umesh Velu"/>
          <p:cNvSpPr/>
          <p:nvPr/>
        </p:nvSpPr>
        <p:spPr>
          <a:xfrm>
            <a:off x="5321808" y="169164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458968" y="1828800"/>
            <a:ext cx="457200" cy="457200"/>
          </a:xfrm>
          <a:prstGeom prst="ellipse">
            <a:avLst/>
          </a:prstGeom>
          <a:solidFill>
            <a:srgbClr val="0D874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UV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58968" y="23774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Dr Umesh Velu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D8743"/>
                </a:solidFill>
                <a:latin typeface="Calibri"/>
              </a:rPr>
              <a:t>Doctor partner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Clinical review of the department's rules and of the design; joins the pilot</a:t>
            </a:r>
          </a:p>
        </p:txBody>
      </p:sp>
      <p:sp>
        <p:nvSpPr>
          <p:cNvPr id="112" name="Member: Abhinand T M"/>
          <p:cNvSpPr/>
          <p:nvPr/>
        </p:nvSpPr>
        <p:spPr>
          <a:xfrm>
            <a:off x="384048" y="40690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21207" y="4206240"/>
            <a:ext cx="457200" cy="45720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1207" y="475488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Abhinand T 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DA9"/>
                </a:solidFill>
                <a:latin typeface="Calibri"/>
              </a:rPr>
              <a:t>Technical lead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Coordinates the team, the doctors and the submissions; reviews the build</a:t>
            </a:r>
          </a:p>
        </p:txBody>
      </p:sp>
      <p:sp>
        <p:nvSpPr>
          <p:cNvPr id="115" name="Member: P S Raghotham Rao"/>
          <p:cNvSpPr/>
          <p:nvPr/>
        </p:nvSpPr>
        <p:spPr>
          <a:xfrm>
            <a:off x="4087368" y="40690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224528" y="4206240"/>
            <a:ext cx="457200" cy="45720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24528" y="475488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P S Raghotham Rao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3DA9"/>
                </a:solidFill>
                <a:latin typeface="Calibri"/>
              </a:rPr>
              <a:t>Lead engineer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Built the scheduling engine, the digital twin, the CARE plugin and the Sarvam AI layer; ran the evaluation</a:t>
            </a:r>
          </a:p>
        </p:txBody>
      </p:sp>
      <p:sp>
        <p:nvSpPr>
          <p:cNvPr id="118" name="The department"/>
          <p:cNvSpPr/>
          <p:nvPr/>
        </p:nvSpPr>
        <p:spPr>
          <a:xfrm>
            <a:off x="7818120" y="1371600"/>
            <a:ext cx="3886200" cy="2926080"/>
          </a:xfrm>
          <a:prstGeom prst="roundRect">
            <a:avLst>
              <a:gd name="adj" fmla="val 25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64592" rIns="164592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THE DEPARTMENT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Radiotherapy department, Manipal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One linear accelerator, an Elekta Versa HD; a second machine arrives in 2027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70–90 patients a day, from 08:30 until about 01:00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Its technologists and doctors answered our questions in writing on 21 Sep and 24 Oct; their rules are in the code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Shared 55 days of records (3,137 visits) as anonymised totals</a:t>
            </a:r>
          </a:p>
        </p:txBody>
      </p:sp>
      <p:sp>
        <p:nvSpPr>
          <p:cNvPr id="119" name="The platform"/>
          <p:cNvSpPr/>
          <p:nvPr/>
        </p:nvSpPr>
        <p:spPr>
          <a:xfrm>
            <a:off x="7818120" y="4480560"/>
            <a:ext cx="3886200" cy="1783079"/>
          </a:xfrm>
          <a:prstGeom prst="roundRect">
            <a:avLst>
              <a:gd name="adj" fmla="val 4102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64592" rIns="164592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THE PLATFORM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CARE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, the open-source hospital information system of the Open Healthcare Network.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RAD-SMART is a CARE plugin: it uses CARE's own patients, users and roles, with no change to CARE's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Problem Statement and Supporting Evidence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09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One machine, 70–90 patients a day, times given by hand: waits build up every day of a 1–7 week course</a:t>
            </a:r>
          </a:p>
        </p:txBody>
      </p:sp>
      <p:sp>
        <p:nvSpPr>
          <p:cNvPr id="110" name="Stat: 109 min"/>
          <p:cNvSpPr/>
          <p:nvPr/>
        </p:nvSpPr>
        <p:spPr>
          <a:xfrm>
            <a:off x="384048" y="1371600"/>
            <a:ext cx="2692908" cy="1188720"/>
          </a:xfrm>
          <a:prstGeom prst="roundRect">
            <a:avLst>
              <a:gd name="adj" fmla="val 6153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DA9"/>
                </a:solidFill>
                <a:latin typeface="Arial"/>
              </a:rPr>
              <a:t>109 min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1 patient in 10 waits longer than this, from arrival to treatment</a:t>
            </a:r>
          </a:p>
        </p:txBody>
      </p:sp>
      <p:sp>
        <p:nvSpPr>
          <p:cNvPr id="111" name="Stat: 22%"/>
          <p:cNvSpPr/>
          <p:nvPr/>
        </p:nvSpPr>
        <p:spPr>
          <a:xfrm>
            <a:off x="3259836" y="1371600"/>
            <a:ext cx="2692908" cy="1188720"/>
          </a:xfrm>
          <a:prstGeom prst="roundRect">
            <a:avLst>
              <a:gd name="adj" fmla="val 6153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DA9"/>
                </a:solidFill>
                <a:latin typeface="Arial"/>
              </a:rPr>
              <a:t>22%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are treated more than an hour after their appointment time</a:t>
            </a:r>
          </a:p>
        </p:txBody>
      </p:sp>
      <p:sp>
        <p:nvSpPr>
          <p:cNvPr id="112" name="Stat: 29%"/>
          <p:cNvSpPr/>
          <p:nvPr/>
        </p:nvSpPr>
        <p:spPr>
          <a:xfrm>
            <a:off x="6135624" y="1371600"/>
            <a:ext cx="2692908" cy="1188720"/>
          </a:xfrm>
          <a:prstGeom prst="roundRect">
            <a:avLst>
              <a:gd name="adj" fmla="val 6153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DA9"/>
                </a:solidFill>
                <a:latin typeface="Arial"/>
              </a:rPr>
              <a:t>29%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are treated within 15 minutes of their appointment time</a:t>
            </a:r>
          </a:p>
        </p:txBody>
      </p:sp>
      <p:sp>
        <p:nvSpPr>
          <p:cNvPr id="113" name="Stat: 69%"/>
          <p:cNvSpPr/>
          <p:nvPr/>
        </p:nvSpPr>
        <p:spPr>
          <a:xfrm>
            <a:off x="9011412" y="1371600"/>
            <a:ext cx="2692908" cy="1188720"/>
          </a:xfrm>
          <a:prstGeom prst="roundRect">
            <a:avLst>
              <a:gd name="adj" fmla="val 6153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1F3DA9"/>
                </a:solidFill>
                <a:latin typeface="Arial"/>
              </a:rPr>
              <a:t>69%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of India's radiotherapy facilities have only one machine, like this one</a:t>
            </a:r>
          </a:p>
        </p:txBody>
      </p:sp>
      <p:pic>
        <p:nvPicPr>
          <p:cNvPr id="114" name="Screenshot: The department's records: waits build up" descr="The department's records: waits build up over the day, and appointment times stop being kep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743200"/>
            <a:ext cx="6492240" cy="2796184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15" name="TextBox 114"/>
          <p:cNvSpPr txBox="1"/>
          <p:nvPr/>
        </p:nvSpPr>
        <p:spPr>
          <a:xfrm>
            <a:off x="384048" y="558510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D6A79"/>
                </a:solidFill>
                <a:latin typeface="Calibri"/>
              </a:rPr>
              <a:t>The department's records: 55 working days, Oct–Dec 2024, 3,137 visits, anonymised totals. Blue: RAD-SMART in the calibrated digital twin.</a:t>
            </a:r>
          </a:p>
        </p:txBody>
      </p:sp>
      <p:sp>
        <p:nvSpPr>
          <p:cNvPr id="116" name="Why it matters"/>
          <p:cNvSpPr/>
          <p:nvPr/>
        </p:nvSpPr>
        <p:spPr>
          <a:xfrm>
            <a:off x="7086600" y="2743200"/>
            <a:ext cx="4617720" cy="3154680"/>
          </a:xfrm>
          <a:prstGeom prst="roundRect">
            <a:avLst>
              <a:gd name="adj" fmla="val 2318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64592" rIns="164592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WHY IT MATTERS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Patients come every weekday for 1–7 weeks, usually with a family member, many by public transport or the hospice bus.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WHAT GOES WRONG TODAY</a:t>
            </a:r>
          </a:p>
          <a:p>
            <a:pPr algn="l" marL="155448" indent="-155448">
              <a:lnSpc>
                <a:spcPct val="100000"/>
              </a:lnSpc>
              <a:spcAft>
                <a:spcPts val="6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Times are given by hand, without knowing how long each session takes, so too many patients are asked to come at once</a:t>
            </a:r>
          </a:p>
          <a:p>
            <a:pPr algn="l" marL="155448" indent="-155448">
              <a:lnSpc>
                <a:spcPct val="100000"/>
              </a:lnSpc>
              <a:spcAft>
                <a:spcPts val="6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breakdown is handled by phone calls and guesswork; patients already on a bus are not told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WHAT MUST IMPROVE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Times that are kept, a fast and fair answer to breakdowns, and patients told early, in their own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Target Users and Use Case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17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Setting: a radiotherapy department with one linear accelerator, running the CARE hospital system</a:t>
            </a:r>
          </a:p>
        </p:txBody>
      </p:sp>
      <p:sp>
        <p:nvSpPr>
          <p:cNvPr id="118" name="User: Radiation oncologist"/>
          <p:cNvSpPr/>
          <p:nvPr/>
        </p:nvSpPr>
        <p:spPr>
          <a:xfrm>
            <a:off x="384048" y="1371600"/>
            <a:ext cx="2147011" cy="3017520"/>
          </a:xfrm>
          <a:prstGeom prst="roundRect">
            <a:avLst>
              <a:gd name="adj" fmla="val 340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Radiation oncologist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NEEDS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time that fits the treatment plan, without phone calls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IN RAD-SMART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Enters the course from the patient's visit; approves the first day and one standing daily time</a:t>
            </a:r>
          </a:p>
        </p:txBody>
      </p:sp>
      <p:sp>
        <p:nvSpPr>
          <p:cNvPr id="119" name="User: Radiation therapy technologist"/>
          <p:cNvSpPr/>
          <p:nvPr/>
        </p:nvSpPr>
        <p:spPr>
          <a:xfrm>
            <a:off x="2677363" y="1371600"/>
            <a:ext cx="2147011" cy="3017520"/>
          </a:xfrm>
          <a:prstGeom prst="roundRect">
            <a:avLst>
              <a:gd name="adj" fmla="val 340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Radiation therapy technologist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NEEDS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day that runs to time, and a quick answer when the machine breaks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IN RAD-SMART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Runs the day board (arrived, in room, out); declares a breakdown and approves the re-plan; sends messages</a:t>
            </a:r>
          </a:p>
        </p:txBody>
      </p:sp>
      <p:sp>
        <p:nvSpPr>
          <p:cNvPr id="120" name="User: Reception"/>
          <p:cNvSpPr/>
          <p:nvPr/>
        </p:nvSpPr>
        <p:spPr>
          <a:xfrm>
            <a:off x="4970678" y="1371600"/>
            <a:ext cx="2147011" cy="3017520"/>
          </a:xfrm>
          <a:prstGeom prst="roundRect">
            <a:avLst>
              <a:gd name="adj" fmla="val 340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Reception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NEEDS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Fast, certain check-in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IN RAD-SMART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Scans the QR code on the patient's phone, or types its six letters</a:t>
            </a:r>
          </a:p>
        </p:txBody>
      </p:sp>
      <p:sp>
        <p:nvSpPr>
          <p:cNvPr id="121" name="User: Patient and family"/>
          <p:cNvSpPr/>
          <p:nvPr/>
        </p:nvSpPr>
        <p:spPr>
          <a:xfrm>
            <a:off x="7263993" y="1371600"/>
            <a:ext cx="2147011" cy="3017520"/>
          </a:xfrm>
          <a:prstGeom prst="roundRect">
            <a:avLst>
              <a:gd name="adj" fmla="val 3407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Patient and family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NEEDS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To know when to come, in their own language, before leaving home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IN RAD-SMART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Open one private link: today's time, any change, a voice note, and four reply buttons</a:t>
            </a:r>
          </a:p>
        </p:txBody>
      </p:sp>
      <p:sp>
        <p:nvSpPr>
          <p:cNvPr id="122" name="User: Head of department"/>
          <p:cNvSpPr/>
          <p:nvPr/>
        </p:nvSpPr>
        <p:spPr>
          <a:xfrm>
            <a:off x="9557308" y="1371600"/>
            <a:ext cx="2147011" cy="3017520"/>
          </a:xfrm>
          <a:prstGeom prst="roundRect">
            <a:avLst>
              <a:gd name="adj" fmla="val 340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Head of department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NEEDS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Evidence that long waits are falling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IN RAD-SMART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Sees waiting times and punctuality on Insights, from the times the board records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4048" y="4572000"/>
            <a:ext cx="11320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HOW IT FITS THE WORKFLOW</a:t>
            </a:r>
          </a:p>
        </p:txBody>
      </p:sp>
      <p:sp>
        <p:nvSpPr>
          <p:cNvPr id="124" name="Fit: Inside CARE"/>
          <p:cNvSpPr/>
          <p:nvPr/>
        </p:nvSpPr>
        <p:spPr>
          <a:xfrm>
            <a:off x="384048" y="4892040"/>
            <a:ext cx="3651504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Inside CARE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RADSMART button on the patient's visit page; CARE's own logins, roles and patient records</a:t>
            </a:r>
          </a:p>
        </p:txBody>
      </p:sp>
      <p:sp>
        <p:nvSpPr>
          <p:cNvPr id="125" name="Fit: On the day"/>
          <p:cNvSpPr/>
          <p:nvPr/>
        </p:nvSpPr>
        <p:spPr>
          <a:xfrm>
            <a:off x="4218432" y="4892040"/>
            <a:ext cx="3651504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On the day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One board at the machine console and a check-in page at reception; one tap per patient</a:t>
            </a:r>
          </a:p>
        </p:txBody>
      </p:sp>
      <p:sp>
        <p:nvSpPr>
          <p:cNvPr id="126" name="Fit: For patients"/>
          <p:cNvSpPr/>
          <p:nvPr/>
        </p:nvSpPr>
        <p:spPr>
          <a:xfrm>
            <a:off x="8052816" y="4892040"/>
            <a:ext cx="3651504" cy="1371600"/>
          </a:xfrm>
          <a:prstGeom prst="roundRect">
            <a:avLst>
              <a:gd name="adj" fmla="val 5333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For patients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One private link with no app or login; messages open in WhatsApp, which patients already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Solution Overview, Key Features &amp; Impact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25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An assistive scheduler inside CARE: it predicts, plans, re-plans and tells; a person approves every change</a:t>
            </a:r>
          </a:p>
        </p:txBody>
      </p:sp>
      <p:sp>
        <p:nvSpPr>
          <p:cNvPr id="126" name="Step 1: Predict"/>
          <p:cNvSpPr/>
          <p:nvPr/>
        </p:nvSpPr>
        <p:spPr>
          <a:xfrm>
            <a:off x="384048" y="1371600"/>
            <a:ext cx="2555748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21207" y="1508760"/>
            <a:ext cx="411480" cy="41148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2415" y="1527048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32F3E"/>
                </a:solidFill>
                <a:latin typeface="Arial"/>
              </a:rPr>
              <a:t>Predict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1207" y="2011680"/>
            <a:ext cx="228142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How many minutes each session takes on the machine, from technique, site and patient needs</a:t>
            </a:r>
          </a:p>
        </p:txBody>
      </p:sp>
      <p:sp>
        <p:nvSpPr>
          <p:cNvPr id="130" name="Arrow"/>
          <p:cNvSpPr/>
          <p:nvPr/>
        </p:nvSpPr>
        <p:spPr>
          <a:xfrm>
            <a:off x="3012948" y="2057400"/>
            <a:ext cx="219456" cy="27432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Step 2: Plan"/>
          <p:cNvSpPr/>
          <p:nvPr/>
        </p:nvSpPr>
        <p:spPr>
          <a:xfrm>
            <a:off x="3305556" y="1371600"/>
            <a:ext cx="2555748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442715" y="1508760"/>
            <a:ext cx="411480" cy="41148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63924" y="1527048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32F3E"/>
                </a:solidFill>
                <a:latin typeface="Arial"/>
              </a:rPr>
              <a:t>Plan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42715" y="2011680"/>
            <a:ext cx="228142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Each course gets a first day and one standing daily time, from an optimiser that cannot break the department's hard rules</a:t>
            </a:r>
          </a:p>
        </p:txBody>
      </p:sp>
      <p:sp>
        <p:nvSpPr>
          <p:cNvPr id="135" name="Arrow"/>
          <p:cNvSpPr/>
          <p:nvPr/>
        </p:nvSpPr>
        <p:spPr>
          <a:xfrm>
            <a:off x="5934456" y="2057400"/>
            <a:ext cx="219456" cy="27432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Step 3: Re-plan"/>
          <p:cNvSpPr/>
          <p:nvPr/>
        </p:nvSpPr>
        <p:spPr>
          <a:xfrm>
            <a:off x="6227064" y="1371600"/>
            <a:ext cx="2555748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64224" y="1508760"/>
            <a:ext cx="411480" cy="41148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85431" y="1527048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32F3E"/>
                </a:solidFill>
                <a:latin typeface="Arial"/>
              </a:rPr>
              <a:t>Re-plan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64224" y="2011680"/>
            <a:ext cx="228142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After a breakdown, a new plan in 10 to 14 seconds under the department's own rules</a:t>
            </a:r>
          </a:p>
        </p:txBody>
      </p:sp>
      <p:sp>
        <p:nvSpPr>
          <p:cNvPr id="140" name="Arrow"/>
          <p:cNvSpPr/>
          <p:nvPr/>
        </p:nvSpPr>
        <p:spPr>
          <a:xfrm>
            <a:off x="8855964" y="2057400"/>
            <a:ext cx="219456" cy="27432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Step 4: Tell"/>
          <p:cNvSpPr/>
          <p:nvPr/>
        </p:nvSpPr>
        <p:spPr>
          <a:xfrm>
            <a:off x="9148572" y="1371600"/>
            <a:ext cx="2555748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285732" y="1508760"/>
            <a:ext cx="411480" cy="411480"/>
          </a:xfrm>
          <a:prstGeom prst="ellipse">
            <a:avLst/>
          </a:prstGeom>
          <a:solidFill>
            <a:srgbClr val="1F3DA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806940" y="1527048"/>
            <a:ext cx="1778507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232F3E"/>
                </a:solidFill>
                <a:latin typeface="Arial"/>
              </a:rPr>
              <a:t>Tell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285732" y="2011680"/>
            <a:ext cx="2281428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Messages and voice notes in Kannada, Malayalam, Hindi or Konkani by Sarvam AI, on WhatsApp and a phone page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4048" y="3246120"/>
            <a:ext cx="11320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KEY FEATURES, BUILT AND WORKING</a:t>
            </a:r>
          </a:p>
        </p:txBody>
      </p:sp>
      <p:sp>
        <p:nvSpPr>
          <p:cNvPr id="146" name="Feature: Standing slots"/>
          <p:cNvSpPr/>
          <p:nvPr/>
        </p:nvSpPr>
        <p:spPr>
          <a:xfrm>
            <a:off x="384048" y="356616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Standing slots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One time per course, free on every treatment date</a:t>
            </a:r>
          </a:p>
        </p:txBody>
      </p:sp>
      <p:sp>
        <p:nvSpPr>
          <p:cNvPr id="147" name="Feature: Day board"/>
          <p:cNvSpPr/>
          <p:nvPr/>
        </p:nvSpPr>
        <p:spPr>
          <a:xfrm>
            <a:off x="3259836" y="356616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Day board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Arrival, in room, out, and a live check of 9 hard rules</a:t>
            </a:r>
          </a:p>
        </p:txBody>
      </p:sp>
      <p:sp>
        <p:nvSpPr>
          <p:cNvPr id="148" name="Feature: Breakdown re-plan"/>
          <p:cNvSpPr/>
          <p:nvPr/>
        </p:nvSpPr>
        <p:spPr>
          <a:xfrm>
            <a:off x="6135624" y="356616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Breakdown re-plan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proposal for each remaining patient, approved by a person</a:t>
            </a:r>
          </a:p>
        </p:txBody>
      </p:sp>
      <p:sp>
        <p:nvSpPr>
          <p:cNvPr id="149" name="Feature: Requests"/>
          <p:cNvSpPr/>
          <p:nvPr/>
        </p:nvSpPr>
        <p:spPr>
          <a:xfrm>
            <a:off x="9011412" y="356616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Requests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Patients ask for another daily time; staff decide</a:t>
            </a:r>
          </a:p>
        </p:txBody>
      </p:sp>
      <p:sp>
        <p:nvSpPr>
          <p:cNvPr id="150" name="Feature: Messages"/>
          <p:cNvSpPr/>
          <p:nvPr/>
        </p:nvSpPr>
        <p:spPr>
          <a:xfrm>
            <a:off x="384048" y="457200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Messages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Drafted after every approval, translated, with a voice note</a:t>
            </a:r>
          </a:p>
        </p:txBody>
      </p:sp>
      <p:sp>
        <p:nvSpPr>
          <p:cNvPr id="151" name="Feature: Patient phone page"/>
          <p:cNvSpPr/>
          <p:nvPr/>
        </p:nvSpPr>
        <p:spPr>
          <a:xfrm>
            <a:off x="3259836" y="457200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Patient phone page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Today's time, changes and replies; no app, no login</a:t>
            </a:r>
          </a:p>
        </p:txBody>
      </p:sp>
      <p:sp>
        <p:nvSpPr>
          <p:cNvPr id="152" name="Feature: QR check-in"/>
          <p:cNvSpPr/>
          <p:nvPr/>
        </p:nvSpPr>
        <p:spPr>
          <a:xfrm>
            <a:off x="6135624" y="457200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QR check-in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Reception scans the code on the patient's phone</a:t>
            </a:r>
          </a:p>
        </p:txBody>
      </p:sp>
      <p:sp>
        <p:nvSpPr>
          <p:cNvPr id="153" name="Feature: Explain and Insights"/>
          <p:cNvSpPr/>
          <p:nvPr/>
        </p:nvSpPr>
        <p:spPr>
          <a:xfrm>
            <a:off x="9011412" y="4572000"/>
            <a:ext cx="2692908" cy="868680"/>
          </a:xfrm>
          <a:prstGeom prst="roundRect">
            <a:avLst>
              <a:gd name="adj" fmla="val 8421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Explain and Insights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Why this time, in plain words; waits from the board</a:t>
            </a:r>
          </a:p>
        </p:txBody>
      </p:sp>
      <p:sp>
        <p:nvSpPr>
          <p:cNvPr id="154" name="Human approval"/>
          <p:cNvSpPr/>
          <p:nvPr/>
        </p:nvSpPr>
        <p:spPr>
          <a:xfrm>
            <a:off x="384048" y="5669280"/>
            <a:ext cx="11320272" cy="548640"/>
          </a:xfrm>
          <a:prstGeom prst="roundRect">
            <a:avLst>
              <a:gd name="adj" fmla="val 13333"/>
            </a:avLst>
          </a:prstGeom>
          <a:solidFill>
            <a:srgbClr val="E8F4EC"/>
          </a:solidFill>
          <a:ln>
            <a:noFill/>
          </a:ln>
        </p:spPr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232F3E"/>
                </a:solidFill>
                <a:latin typeface="Calibri"/>
              </a:rPr>
              <a:t>A person approves every change.</a:t>
            </a:r>
            <a:r>
              <a:rPr sz="1400" b="0" i="0">
                <a:solidFill>
                  <a:srgbClr val="232F3E"/>
                </a:solidFill>
                <a:latin typeface="Calibri"/>
              </a:rPr>
              <a:t> RAD-SMART decides only </a:t>
            </a:r>
            <a:r>
              <a:rPr sz="1400" b="1" i="0">
                <a:solidFill>
                  <a:srgbClr val="232F3E"/>
                </a:solidFill>
                <a:latin typeface="Calibri"/>
              </a:rPr>
              <a:t>when</a:t>
            </a:r>
            <a:r>
              <a:rPr sz="1400" b="0" i="0">
                <a:solidFill>
                  <a:srgbClr val="232F3E"/>
                </a:solidFill>
                <a:latin typeface="Calibri"/>
              </a:rPr>
              <a:t> a patient is treated, never whether or how.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Solution Working MVP / Demo</a:t>
            </a:r>
            <a:endParaRPr b="1" i="0" sz="2700" u="none" cap="none" strike="noStrike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33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A working application inside CARE today, shown here with synthetic patients</a:t>
            </a:r>
          </a:p>
        </p:txBody>
      </p:sp>
      <p:pic>
        <p:nvPicPr>
          <p:cNvPr id="134" name="Screenshot: Today page: the machine card, the live c" descr="Today page: the machine card, the live check of 9 hard rules and the day's time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71600"/>
            <a:ext cx="5486400" cy="291682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35" name="TextBox 134"/>
          <p:cNvSpPr txBox="1"/>
          <p:nvPr/>
        </p:nvSpPr>
        <p:spPr>
          <a:xfrm>
            <a:off x="384048" y="43249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Today: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 the machine card, the live check of 9 hard rules, the day's timeline</a:t>
            </a:r>
          </a:p>
        </p:txBody>
      </p:sp>
      <p:pic>
        <p:nvPicPr>
          <p:cNvPr id="136" name="Screenshot: Course page: RAD-SMART's proposal of a f" descr="Course page: RAD-SMART's proposal of a first day and a standing slot, with reas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672468"/>
            <a:ext cx="5486400" cy="1309656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84048" y="601870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Course: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 a first day and a standing time, with reasons; a doctor approves</a:t>
            </a:r>
          </a:p>
        </p:txBody>
      </p:sp>
      <p:pic>
        <p:nvPicPr>
          <p:cNvPr id="138" name="Screenshot: Breakdown page: what happens to each rem" descr="Breakdown page: what happens to each remaining patient, waiting for approv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1371600"/>
            <a:ext cx="3246120" cy="176488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6053328" y="317305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Breakdown: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 a proposal per patient, approved by a person</a:t>
            </a:r>
          </a:p>
        </p:txBody>
      </p:sp>
      <p:pic>
        <p:nvPicPr>
          <p:cNvPr id="140" name="Screenshot: Messages page: each message in Kannada a" descr="Messages page: each message in Kannada and English, with Open WhatsApp and Mark s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3520528"/>
            <a:ext cx="3246120" cy="974889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6053328" y="453199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Messages: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 Kannada and English, voice note, WhatsApp</a:t>
            </a:r>
          </a:p>
        </p:txBody>
      </p:sp>
      <p:sp>
        <p:nvSpPr>
          <p:cNvPr id="142" name="Demo video"/>
          <p:cNvSpPr/>
          <p:nvPr/>
        </p:nvSpPr>
        <p:spPr>
          <a:xfrm>
            <a:off x="6053328" y="4906898"/>
            <a:ext cx="3246120" cy="1356741"/>
          </a:xfrm>
          <a:prstGeom prst="roundRect">
            <a:avLst>
              <a:gd name="adj" fmla="val 5391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DEMO VIDEO · 3¾ MIN, NARRATED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real app, one day from course entry to a breakdown and the patient's phone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F3DA9"/>
                </a:solidFill>
                <a:latin typeface="Calibri"/>
                <a:hlinkClick r:id="rId8"/>
              </a:rPr>
              <a:t>Watch it on the project website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1F3DA9"/>
                </a:solidFill>
                <a:latin typeface="Calibri"/>
                <a:hlinkClick r:id="rId9"/>
              </a:rPr>
              <a:t>Code on GitHub</a:t>
            </a:r>
          </a:p>
        </p:txBody>
      </p:sp>
      <p:pic>
        <p:nvPicPr>
          <p:cNvPr id="143" name="Screenshot: The patient's phone page in Kannada: tod" descr="The patient's phone page in Kannada: today's time to come, the check-in QR code and the next treatment day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1371600"/>
            <a:ext cx="1985894" cy="4297680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44" name="TextBox 143"/>
          <p:cNvSpPr txBox="1"/>
          <p:nvPr/>
        </p:nvSpPr>
        <p:spPr>
          <a:xfrm>
            <a:off x="9528048" y="5705856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Patient's phone page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, in Kannada, with the check-in QR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Technology, Tools and AI Approach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41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Each part does what it is best at: the optimiser guarantees the rules; language models only translate and explain</a:t>
            </a:r>
          </a:p>
        </p:txBody>
      </p:sp>
      <p:sp>
        <p:nvSpPr>
          <p:cNvPr id="142" name="Flow: Course in CARE"/>
          <p:cNvSpPr/>
          <p:nvPr/>
        </p:nvSpPr>
        <p:spPr>
          <a:xfrm>
            <a:off x="384048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232F3E"/>
                </a:solidFill>
                <a:latin typeface="Arial"/>
              </a:rPr>
              <a:t>INPUT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Course in CARE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doctor's entry on the patient's visit page</a:t>
            </a:r>
          </a:p>
        </p:txBody>
      </p:sp>
      <p:sp>
        <p:nvSpPr>
          <p:cNvPr id="143" name="Arrow"/>
          <p:cNvSpPr/>
          <p:nvPr/>
        </p:nvSpPr>
        <p:spPr>
          <a:xfrm>
            <a:off x="2093976" y="2075688"/>
            <a:ext cx="182880" cy="237744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Flow: Gradient boosting"/>
          <p:cNvSpPr/>
          <p:nvPr/>
        </p:nvSpPr>
        <p:spPr>
          <a:xfrm>
            <a:off x="2313432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1 · PREDICT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Gradient boosting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scikit-learn: minutes each session takes</a:t>
            </a:r>
          </a:p>
        </p:txBody>
      </p:sp>
      <p:sp>
        <p:nvSpPr>
          <p:cNvPr id="145" name="Arrow"/>
          <p:cNvSpPr/>
          <p:nvPr/>
        </p:nvSpPr>
        <p:spPr>
          <a:xfrm>
            <a:off x="4023360" y="2075688"/>
            <a:ext cx="182880" cy="237744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Flow: Mixed-integer optimiser"/>
          <p:cNvSpPr/>
          <p:nvPr/>
        </p:nvSpPr>
        <p:spPr>
          <a:xfrm>
            <a:off x="4242816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2 · PLAN, RE-PLAN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Mixed-integer optimiser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SciPy with HiGHS: the rules are hard constraints</a:t>
            </a:r>
          </a:p>
        </p:txBody>
      </p:sp>
      <p:sp>
        <p:nvSpPr>
          <p:cNvPr id="147" name="Arrow"/>
          <p:cNvSpPr/>
          <p:nvPr/>
        </p:nvSpPr>
        <p:spPr>
          <a:xfrm>
            <a:off x="5952744" y="2075688"/>
            <a:ext cx="182880" cy="237744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Flow: Check and approve"/>
          <p:cNvSpPr/>
          <p:nvPr/>
        </p:nvSpPr>
        <p:spPr>
          <a:xfrm>
            <a:off x="6172200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SAFETY GATE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Check and approve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An independent rule checker, then a person approves</a:t>
            </a:r>
          </a:p>
        </p:txBody>
      </p:sp>
      <p:sp>
        <p:nvSpPr>
          <p:cNvPr id="149" name="Arrow"/>
          <p:cNvSpPr/>
          <p:nvPr/>
        </p:nvSpPr>
        <p:spPr>
          <a:xfrm>
            <a:off x="7882128" y="2075688"/>
            <a:ext cx="182880" cy="237744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Flow: Sarvam AI"/>
          <p:cNvSpPr/>
          <p:nvPr/>
        </p:nvSpPr>
        <p:spPr>
          <a:xfrm>
            <a:off x="8101584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3 · TELL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Sarvam AI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Translate, Bulbul v3 voice, Sarvam-105B explanations; every output checked</a:t>
            </a:r>
          </a:p>
        </p:txBody>
      </p:sp>
      <p:sp>
        <p:nvSpPr>
          <p:cNvPr id="151" name="Arrow"/>
          <p:cNvSpPr/>
          <p:nvPr/>
        </p:nvSpPr>
        <p:spPr>
          <a:xfrm>
            <a:off x="9811512" y="2075688"/>
            <a:ext cx="182880" cy="237744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Flow: The patient"/>
          <p:cNvSpPr/>
          <p:nvPr/>
        </p:nvSpPr>
        <p:spPr>
          <a:xfrm>
            <a:off x="10030968" y="1371600"/>
            <a:ext cx="1673352" cy="1645920"/>
          </a:xfrm>
          <a:prstGeom prst="roundRect">
            <a:avLst>
              <a:gd name="adj" fmla="val 4444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232F3E"/>
                </a:solidFill>
                <a:latin typeface="Arial"/>
              </a:rPr>
              <a:t>OUTPUT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The patient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WhatsApp message, voice note and phone page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4048" y="3200400"/>
            <a:ext cx="11320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TESTING, DATA, INTEGRATIONS AND STACK</a:t>
            </a:r>
          </a:p>
        </p:txBody>
      </p:sp>
      <p:sp>
        <p:nvSpPr>
          <p:cNvPr id="154" name="Card: Digital twin"/>
          <p:cNvSpPr/>
          <p:nvPr/>
        </p:nvSpPr>
        <p:spPr>
          <a:xfrm>
            <a:off x="384048" y="3520440"/>
            <a:ext cx="2692908" cy="2743200"/>
          </a:xfrm>
          <a:prstGeom prst="roundRect">
            <a:avLst>
              <a:gd name="adj" fmla="val 2716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Digital twin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simulation calibrated on the department's 55 days; it reproduces today's long wait (106 against 109 min)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Tests every plan and measures with and without RAD-SMART before patients are affected</a:t>
            </a:r>
          </a:p>
        </p:txBody>
      </p:sp>
      <p:sp>
        <p:nvSpPr>
          <p:cNvPr id="155" name="Card: Data"/>
          <p:cNvSpPr/>
          <p:nvPr/>
        </p:nvSpPr>
        <p:spPr>
          <a:xfrm>
            <a:off x="3259836" y="3520440"/>
            <a:ext cx="2692908" cy="2743200"/>
          </a:xfrm>
          <a:prstGeom prst="roundRect">
            <a:avLst>
              <a:gd name="adj" fmla="val 2716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Data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Department records, 55 days, as anonymised totals: calibrate the twin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Synthetic patients: train the minute model, run the demo and the evaluation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Real session minutes: recorded by the day board from the first pilot day</a:t>
            </a:r>
          </a:p>
        </p:txBody>
      </p:sp>
      <p:sp>
        <p:nvSpPr>
          <p:cNvPr id="156" name="Card: Integrations"/>
          <p:cNvSpPr/>
          <p:nvPr/>
        </p:nvSpPr>
        <p:spPr>
          <a:xfrm>
            <a:off x="6135624" y="3520440"/>
            <a:ext cx="2692908" cy="2743200"/>
          </a:xfrm>
          <a:prstGeom prst="roundRect">
            <a:avLst>
              <a:gd name="adj" fmla="val 2716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Integrations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CARE's patients, users and roles; installs as a plugin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WhatsApp: a message opens in the department's own WhatsApp; staff press send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QR check-in by USB scanner or camera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Sarvam over HTTPS; everything else runs offline</a:t>
            </a:r>
          </a:p>
        </p:txBody>
      </p:sp>
      <p:sp>
        <p:nvSpPr>
          <p:cNvPr id="157" name="Card: Stack"/>
          <p:cNvSpPr/>
          <p:nvPr/>
        </p:nvSpPr>
        <p:spPr>
          <a:xfrm>
            <a:off x="9011412" y="3520440"/>
            <a:ext cx="2692908" cy="2743200"/>
          </a:xfrm>
          <a:prstGeom prst="roundRect">
            <a:avLst>
              <a:gd name="adj" fmla="val 2716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Stack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Python, Django REST framework, PostgreSQL (CARE)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React and TypeScript (CARE frontend plugin)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scikit-learn, SciPy with HiGHS, NumPy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Docker Compose · about 10,600 lines of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Build Sprint Journey and Progress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50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From a Round 1 engine to a working CARE application with a patient side (sprint: 5 Oct – 8 Nov)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192638" y="1874519"/>
            <a:ext cx="9703091" cy="0"/>
          </a:xfrm>
          <a:prstGeom prst="line">
            <a:avLst/>
          </a:prstGeom>
          <a:ln w="25400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84047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19 Sep</a:t>
            </a:r>
          </a:p>
        </p:txBody>
      </p:sp>
      <p:sp>
        <p:nvSpPr>
          <p:cNvPr id="153" name="Milestone 19 Sep"/>
          <p:cNvSpPr/>
          <p:nvPr/>
        </p:nvSpPr>
        <p:spPr>
          <a:xfrm>
            <a:off x="1092054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29767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Round 1 entry: engine, digital twin, results page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01229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22 Sep</a:t>
            </a:r>
          </a:p>
        </p:txBody>
      </p:sp>
      <p:sp>
        <p:nvSpPr>
          <p:cNvPr id="156" name="Milestone 22 Sep"/>
          <p:cNvSpPr/>
          <p:nvPr/>
        </p:nvSpPr>
        <p:spPr>
          <a:xfrm>
            <a:off x="2709236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046949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Department's first answers built in; twin calibrated on its 55 days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18411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5 Oct</a:t>
            </a:r>
          </a:p>
        </p:txBody>
      </p:sp>
      <p:sp>
        <p:nvSpPr>
          <p:cNvPr id="159" name="Milestone 5 Oct"/>
          <p:cNvSpPr/>
          <p:nvPr/>
        </p:nvSpPr>
        <p:spPr>
          <a:xfrm>
            <a:off x="4326418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64131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Shortlisted; build sprint starts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235593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21 Oct</a:t>
            </a:r>
          </a:p>
        </p:txBody>
      </p:sp>
      <p:sp>
        <p:nvSpPr>
          <p:cNvPr id="162" name="Milestone 21 Oct"/>
          <p:cNvSpPr/>
          <p:nvPr/>
        </p:nvSpPr>
        <p:spPr>
          <a:xfrm>
            <a:off x="5943600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281313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Technical guide and maths notes for the department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2774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24 Oct</a:t>
            </a:r>
          </a:p>
        </p:txBody>
      </p:sp>
      <p:sp>
        <p:nvSpPr>
          <p:cNvPr id="165" name="Milestone 24 Oct"/>
          <p:cNvSpPr/>
          <p:nvPr/>
        </p:nvSpPr>
        <p:spPr>
          <a:xfrm>
            <a:off x="7560781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98494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Department's second answers built in; a working app inside CARE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69956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25 Oct</a:t>
            </a:r>
          </a:p>
        </p:txBody>
      </p:sp>
      <p:sp>
        <p:nvSpPr>
          <p:cNvPr id="168" name="Milestone 25 Oct"/>
          <p:cNvSpPr/>
          <p:nvPr/>
        </p:nvSpPr>
        <p:spPr>
          <a:xfrm>
            <a:off x="9177963" y="1773935"/>
            <a:ext cx="201168" cy="201168"/>
          </a:xfrm>
          <a:prstGeom prst="ellipse">
            <a:avLst/>
          </a:prstGeom>
          <a:solidFill>
            <a:srgbClr val="0D8743"/>
          </a:solidFill>
          <a:ln w="19050">
            <a:solidFill>
              <a:srgbClr val="0D874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515676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32F3E"/>
                </a:solidFill>
                <a:latin typeface="Calibri"/>
              </a:rPr>
              <a:t>Sarvam AI layer, patient page, QR check-in, evaluation, narrated video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087138" y="1371600"/>
            <a:ext cx="161718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By 8 Nov</a:t>
            </a:r>
          </a:p>
        </p:txBody>
      </p:sp>
      <p:sp>
        <p:nvSpPr>
          <p:cNvPr id="171" name="Milestone By 8 Nov"/>
          <p:cNvSpPr/>
          <p:nvPr/>
        </p:nvSpPr>
        <p:spPr>
          <a:xfrm>
            <a:off x="10795145" y="177393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6A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132858" y="2057400"/>
            <a:ext cx="152574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5D6A79"/>
                </a:solidFill>
                <a:latin typeface="Calibri"/>
              </a:rPr>
              <a:t>Technologist trial, native-speaker ratings, final submission</a:t>
            </a:r>
          </a:p>
        </p:txBody>
      </p:sp>
      <p:sp>
        <p:nvSpPr>
          <p:cNvPr id="173" name="Functional now"/>
          <p:cNvSpPr/>
          <p:nvPr/>
        </p:nvSpPr>
        <p:spPr>
          <a:xfrm>
            <a:off x="384048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FUNCTIONAL NOW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Course entry with a standing time, approved by a doctor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Day board: arrival, in room, out, live rule check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Breakdown re-planning, approved by a person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Requests for another time, decided by staff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Messages in 4 Indian languages with voice notes, opened in WhatsApp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Patient phone page, replies and QR check-in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Plain-words explanations, with a time check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Insights · 20 automated safety tests</a:t>
            </a:r>
          </a:p>
        </p:txBody>
      </p:sp>
      <p:sp>
        <p:nvSpPr>
          <p:cNvPr id="174" name="How it changed"/>
          <p:cNvSpPr/>
          <p:nvPr/>
        </p:nvSpPr>
        <p:spPr>
          <a:xfrm>
            <a:off x="4218432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HOW IT CHANGED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From idea to app: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Round 1 was an engine with a simulation; it now runs inside CARE, with a patient side.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After the department's answers: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one standing time per course; new starts finish before 17:00; their 60-minute breakdown rule; only a doctor approves a course.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Challenges found in testing, fixed: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Kannada attaches suffixes to times; Konkani turned "the next working day" into "next week", so messages now name the date; an explanation used the proposed time; one patient button was unclear.</a:t>
            </a:r>
          </a:p>
        </p:txBody>
      </p:sp>
      <p:sp>
        <p:nvSpPr>
          <p:cNvPr id="175" name="Not yet built"/>
          <p:cNvSpPr/>
          <p:nvPr/>
        </p:nvSpPr>
        <p:spPr>
          <a:xfrm>
            <a:off x="8052816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5D6A79"/>
                </a:solidFill>
                <a:latin typeface="Arial"/>
              </a:rPr>
              <a:t>NOT YET BUILT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Automatic WhatsApp sending (needs the hospital's Meta business verification)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Spoken replies from patients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Tulu voice (no Sarvam model; staff can record one)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Importing Excel lists and paper prescriptions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Changing rules in plain words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read-only feed from MOSAIQ or ARIA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5D6A7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Live planning for two machines (forecast 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Evaluation and User Validation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59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Scheduling: the department's own 55 days replayed in a calibrated digital twin, and synthetic scenarios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84048" y="13716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90TH-PERCENTILE WAIT, MINUTES: WITHOUT AND WITH RAD-SMART</a:t>
            </a:r>
          </a:p>
        </p:txBody>
      </p:sp>
      <p:graphicFrame>
        <p:nvGraphicFramePr>
          <p:cNvPr id="161" name="Chart: 90th-percentile wait"/>
          <p:cNvGraphicFramePr>
            <a:graphicFrameLocks noGrp="1"/>
          </p:cNvGraphicFramePr>
          <p:nvPr/>
        </p:nvGraphicFramePr>
        <p:xfrm>
          <a:off x="384048" y="1645920"/>
          <a:ext cx="6675120" cy="420624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62" name="TextBox 161"/>
          <p:cNvSpPr txBox="1"/>
          <p:nvPr/>
        </p:nvSpPr>
        <p:spPr>
          <a:xfrm>
            <a:off x="384048" y="589788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D6A79"/>
                </a:solidFill>
                <a:latin typeface="Calibri"/>
              </a:rPr>
              <a:t>Same patients and the same random events with and without RAD-SMART. The breakdown row is 300 synthetic days with a 150-minute fault at 10:00.</a:t>
            </a:r>
          </a:p>
        </p:txBody>
      </p:sp>
      <p:sp>
        <p:nvSpPr>
          <p:cNvPr id="163" name="Stat: 22.2% → 5.7%"/>
          <p:cNvSpPr/>
          <p:nvPr/>
        </p:nvSpPr>
        <p:spPr>
          <a:xfrm>
            <a:off x="7315200" y="1371600"/>
            <a:ext cx="4389120" cy="941832"/>
          </a:xfrm>
          <a:prstGeom prst="roundRect">
            <a:avLst>
              <a:gd name="adj" fmla="val 7766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22.2% → 5.7%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treated more than an hour late, on the department's days</a:t>
            </a:r>
          </a:p>
        </p:txBody>
      </p:sp>
      <p:sp>
        <p:nvSpPr>
          <p:cNvPr id="164" name="Stat: 28.9% → 49.5%"/>
          <p:cNvSpPr/>
          <p:nvPr/>
        </p:nvSpPr>
        <p:spPr>
          <a:xfrm>
            <a:off x="7315200" y="2450591"/>
            <a:ext cx="4389120" cy="941832"/>
          </a:xfrm>
          <a:prstGeom prst="roundRect">
            <a:avLst>
              <a:gd name="adj" fmla="val 7766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28.9% → 49.5%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treated within 15 minutes of their time</a:t>
            </a:r>
          </a:p>
        </p:txBody>
      </p:sp>
      <p:sp>
        <p:nvSpPr>
          <p:cNvPr id="165" name="Stat: 104 → 39 min"/>
          <p:cNvSpPr/>
          <p:nvPr/>
        </p:nvSpPr>
        <p:spPr>
          <a:xfrm>
            <a:off x="7315200" y="3529584"/>
            <a:ext cx="4389120" cy="941832"/>
          </a:xfrm>
          <a:prstGeom prst="roundRect">
            <a:avLst>
              <a:gd name="adj" fmla="val 7766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104 → 39 min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median wait after the breakdown; a new plan in 14 s</a:t>
            </a:r>
          </a:p>
        </p:txBody>
      </p:sp>
      <p:sp>
        <p:nvSpPr>
          <p:cNvPr id="166" name="Stat: 0"/>
          <p:cNvSpPr/>
          <p:nvPr/>
        </p:nvSpPr>
        <p:spPr>
          <a:xfrm>
            <a:off x="7315200" y="4608576"/>
            <a:ext cx="4389120" cy="941832"/>
          </a:xfrm>
          <a:prstGeom prst="roundRect">
            <a:avLst>
              <a:gd name="adj" fmla="val 7766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0D8743"/>
                </a:solidFill>
                <a:latin typeface="Arial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hard rules broken on any evaluation day, by an independent checker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15200" y="5715000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5D6A79"/>
                </a:solidFill>
                <a:latin typeface="Calibri"/>
              </a:rPr>
              <a:t>Limitation:</a:t>
            </a:r>
            <a:r>
              <a:rPr sz="1050" b="0" i="0">
                <a:solidFill>
                  <a:srgbClr val="5D6A79"/>
                </a:solidFill>
                <a:latin typeface="Calibri"/>
              </a:rPr>
              <a:t> a replay, not a live trial. The pilot measures the gain for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Safety and Responsible AI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68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RAD-SMART proposes and people decide; the AI is fenced in, and patients' details stay out of it</a:t>
            </a:r>
          </a:p>
        </p:txBody>
      </p:sp>
      <p:sp>
        <p:nvSpPr>
          <p:cNvPr id="169" name="Human oversight and safeguards"/>
          <p:cNvSpPr/>
          <p:nvPr/>
        </p:nvSpPr>
        <p:spPr>
          <a:xfrm>
            <a:off x="384048" y="1371600"/>
            <a:ext cx="5568696" cy="2354579"/>
          </a:xfrm>
          <a:prstGeom prst="roundRect">
            <a:avLst>
              <a:gd name="adj" fmla="val 3106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HUMAN OVERSIGHT AND SAFEGUARDS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doctor approves each course and its time; a technologist or doctor approves every change on the day, breakdowns included. The approver and time are recorded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Hard rules are optimiser constraints, so a plan that breaks one cannot be made; an independent checker re-checks every plan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It decides only when, never whether or how; it is not a diagnostic or treatment-planning tool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If a hard rule is broken during the pilot, the department returns to manual scheduling</a:t>
            </a:r>
          </a:p>
        </p:txBody>
      </p:sp>
      <p:sp>
        <p:nvSpPr>
          <p:cNvPr id="170" name="AI limits and error handling"/>
          <p:cNvSpPr/>
          <p:nvPr/>
        </p:nvSpPr>
        <p:spPr>
          <a:xfrm>
            <a:off x="6135624" y="1371600"/>
            <a:ext cx="5568696" cy="2354579"/>
          </a:xfrm>
          <a:prstGeom prst="roundRect">
            <a:avLst>
              <a:gd name="adj" fmla="val 3106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AI LIMITS AND ERROR HANDLING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Language models never schedule; they translate and explain decisions already approved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translation that drops, changes or adds a clock time is discarded: the patient gets English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An explanation with a time not in the engine's facts is rejected; the prompt forbids medical advice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If Sarvam is down, messages go in English: scheduling never depends on it. Staff read both texts before sending</a:t>
            </a:r>
          </a:p>
        </p:txBody>
      </p:sp>
      <p:sp>
        <p:nvSpPr>
          <p:cNvPr id="171" name="Privacy, consent and security"/>
          <p:cNvSpPr/>
          <p:nvPr/>
        </p:nvSpPr>
        <p:spPr>
          <a:xfrm>
            <a:off x="384048" y="3909060"/>
            <a:ext cx="5568696" cy="2354579"/>
          </a:xfrm>
          <a:prstGeom prst="roundRect">
            <a:avLst>
              <a:gd name="adj" fmla="val 3106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PRIVACY, CONSENT AND SECURITY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No names, hospital numbers or phone numbers go to Sarvam: only message text with times and dates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Patient page: a long random link, first name only, six replies a day at most; the QR holds a six-letter code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Sent from the department's own WhatsApp by a person; demo and evaluation data are synthetic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Pilot: DPDP Act 2023 and Rules 2025 (notice and consent for messaging) and ethics committee review</a:t>
            </a:r>
          </a:p>
        </p:txBody>
      </p:sp>
      <p:sp>
        <p:nvSpPr>
          <p:cNvPr id="172" name="Fairness, access and inclusion"/>
          <p:cNvSpPr/>
          <p:nvPr/>
        </p:nvSpPr>
        <p:spPr>
          <a:xfrm>
            <a:off x="6135624" y="3909060"/>
            <a:ext cx="5568696" cy="2354579"/>
          </a:xfrm>
          <a:prstGeom prst="roundRect">
            <a:avLst>
              <a:gd name="adj" fmla="val 3106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FAIRNESS, ACCESS AND INCLUSION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Older patients, patients on public transport or the hospice bus, and doctors' time windows are protected by explicit rules, not left to chance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Messages in Kannada, Malayalam, Hindi and Konkani, with voice notes for those who read little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Tulu speakers read Kannada; staff can record a Tulu voice note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Works on any phone with a browser: no app, no login; the page switches between the patient's language and English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0D8743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Patients can ask for another daily time from the page; staff decide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Deployment, Cost and Sustainability Plan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76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Installs as a CARE plugin on the hospital's own server; about ₹1 a message to run</a:t>
            </a:r>
          </a:p>
        </p:txBody>
      </p:sp>
      <p:sp>
        <p:nvSpPr>
          <p:cNvPr id="177" name="Requirements"/>
          <p:cNvSpPr/>
          <p:nvPr/>
        </p:nvSpPr>
        <p:spPr>
          <a:xfrm>
            <a:off x="384048" y="137160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WHAT A PILOT NEEDS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CARE instance (the hospital's, or a VM running CARE with Docker Compose); RAD-SMART installs as a backend and a frontend plugin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 laptop or tablet at the machine console and at reception; a USB QR scanner or the camera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department's WhatsApp on a staff phone or WhatsApp Web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Internet and an API key for Sarvam; everything else works offline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1F3DA9"/>
              </a:buClr>
              <a:buFont typeface="Arial"/>
              <a:buChar char="•"/>
            </a:pPr>
            <a:r>
              <a:rPr sz="1200" b="0" i="0">
                <a:solidFill>
                  <a:srgbClr val="232F3E"/>
                </a:solidFill>
                <a:latin typeface="Calibri"/>
              </a:rPr>
              <a:t>Approval by the head of department, the ethics committee and hospital IT</a:t>
            </a:r>
          </a:p>
        </p:txBody>
      </p:sp>
      <p:sp>
        <p:nvSpPr>
          <p:cNvPr id="178" name="Integration"/>
          <p:cNvSpPr/>
          <p:nvPr/>
        </p:nvSpPr>
        <p:spPr>
          <a:xfrm>
            <a:off x="384048" y="40233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INTEGRATION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Uses CARE's own patients, facilities, users and permissions, adds its own tables, and installs and removes like any CARE plugin. </a:t>
            </a:r>
            <a:r>
              <a:rPr sz="1200" b="1" i="0">
                <a:solidFill>
                  <a:srgbClr val="232F3E"/>
                </a:solidFill>
                <a:latin typeface="Calibri"/>
              </a:rPr>
              <a:t>Next: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 read-only feed from the oncology information system (MOSAIQ or ARIA, HL7 v2 or FHIR R4), so courses are not typed twice; later, the WhatsApp Business API.</a:t>
            </a:r>
          </a:p>
        </p:txBody>
      </p:sp>
      <p:graphicFrame>
        <p:nvGraphicFramePr>
          <p:cNvPr id="179" name="Cost table"/>
          <p:cNvGraphicFramePr>
            <a:graphicFrameLocks noGrp="1"/>
          </p:cNvGraphicFramePr>
          <p:nvPr/>
        </p:nvGraphicFramePr>
        <p:xfrm>
          <a:off x="5870448" y="1371600"/>
          <a:ext cx="58338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6552"/>
                <a:gridCol w="1417320"/>
              </a:tblGrid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Item, with the pricing assumption</a:t>
                      </a:r>
                    </a:p>
                  </a:txBody>
                  <a:tcPr marL="91440" marR="91440" marT="36576" marB="36576" anchor="ctr">
                    <a:solidFill>
                      <a:srgbClr val="1F3DA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Estimate (₹)</a:t>
                      </a:r>
                    </a:p>
                  </a:txBody>
                  <a:tcPr marL="91440" marR="91440" marT="36576" marB="36576" anchor="ctr">
                    <a:solidFill>
                      <a:srgbClr val="1F3DA9"/>
                    </a:solidFill>
                  </a:tcPr>
                </a:tc>
              </a:tr>
              <a:tr h="315883">
                <a:tc gridSpan="2"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DA9"/>
                          </a:solidFill>
                          <a:latin typeface="Calibri"/>
                        </a:rPr>
                        <a:t>ONE-TIME</a:t>
                      </a:r>
                    </a:p>
                  </a:txBody>
                  <a:tcPr marL="91440" marR="91440" marT="36576" marB="36576" anchor="ctr">
                    <a:solidFill>
                      <a:srgbClr val="EDF0F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Server with UPS (₹0 on an existing hospital VM)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0 – 1,50,000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Tablets for console and reception (₹0 on existing PCs)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0 – 60,000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QR scanner and labels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5,000 – 15,000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Software licence (open source)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883">
                <a:tc gridSpan="2"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F3DA9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 marL="91440" marR="91440" marT="36576" marB="36576" anchor="ctr">
                    <a:solidFill>
                      <a:srgbClr val="EDF0F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Per message, about 190 characters: translation ₹0.38 + voice ₹0.57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about 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Per course: about 3 messages, plus explanations under ₹0.10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about 3 – 5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Per facility per month: about 85 new courses, plus breakdown messages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about 400 – 850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32F3E"/>
                          </a:solidFill>
                          <a:latin typeface="Calibri"/>
                        </a:rPr>
                        <a:t>Hosting on the hospital's own server or VM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 i="0">
                          <a:solidFill>
                            <a:srgbClr val="232F3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80" name="TextBox 179"/>
          <p:cNvSpPr txBox="1"/>
          <p:nvPr/>
        </p:nvSpPr>
        <p:spPr>
          <a:xfrm>
            <a:off x="5870448" y="4937760"/>
            <a:ext cx="583387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D6A79"/>
                </a:solidFill>
                <a:latin typeface="Calibri"/>
              </a:rPr>
              <a:t>Sarvam list prices, to confirm before the pilot: Translate ₹20 and Bulbul v3 ₹30 per 10,000 characters; Sarvam-105B ₹4 and ₹16 per million tokens in and out. About 1,000 courses a year. Voice notes are made only when played.</a:t>
            </a:r>
          </a:p>
        </p:txBody>
      </p:sp>
      <p:sp>
        <p:nvSpPr>
          <p:cNvPr id="181" name="Scale and sustain"/>
          <p:cNvSpPr/>
          <p:nvPr/>
        </p:nvSpPr>
        <p:spPr>
          <a:xfrm>
            <a:off x="384048" y="5532120"/>
            <a:ext cx="11320272" cy="731520"/>
          </a:xfrm>
          <a:prstGeom prst="roundRect">
            <a:avLst>
              <a:gd name="adj" fmla="val 10000"/>
            </a:avLst>
          </a:prstGeom>
          <a:solidFill>
            <a:srgbClr val="E8F4EC"/>
          </a:solidFill>
          <a:ln>
            <a:noFill/>
          </a:ln>
        </p:spPr>
        <p:txBody>
          <a:bodyPr rtlCol="0" anchor="ctr" wrap="square" lIns="182880" rIns="182880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232F3E"/>
                </a:solidFill>
                <a:latin typeface="Calibri"/>
              </a:rPr>
              <a:t>Scale and sustain:</a:t>
            </a:r>
            <a:r>
              <a:rPr sz="1250" b="0" i="0">
                <a:solidFill>
                  <a:srgbClr val="232F3E"/>
                </a:solidFill>
                <a:latin typeface="Calibri"/>
              </a:rPr>
              <a:t> a 90-day pilot on the Versa HD, then the second machine in 2027, then other hospitals that run CARE. 69% of India's radiotherapy centres have one machine. Open source and a few thousand rupees a year to run, so the department's own staff can keep it going after the pilot.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81" name="Google Shape;1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What Next? Plans to Take It Forward</a:t>
            </a:r>
            <a:endParaRPr b="1" i="0" sz="2700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84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Validate with the department, then a 90-day pilot on the Versa HD</a:t>
            </a:r>
          </a:p>
        </p:txBody>
      </p:sp>
      <p:sp>
        <p:nvSpPr>
          <p:cNvPr id="185" name="When: By 8 Nov 2026"/>
          <p:cNvSpPr/>
          <p:nvPr/>
        </p:nvSpPr>
        <p:spPr>
          <a:xfrm>
            <a:off x="384048" y="1371600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By 8 Nov 2026</a:t>
            </a:r>
          </a:p>
        </p:txBody>
      </p:sp>
      <p:sp>
        <p:nvSpPr>
          <p:cNvPr id="186" name="Plan: By 8 Nov 2026"/>
          <p:cNvSpPr/>
          <p:nvPr/>
        </p:nvSpPr>
        <p:spPr>
          <a:xfrm>
            <a:off x="2121408" y="1371600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Technologist trial of the demo; native speakers rate every translation</a:t>
            </a:r>
          </a:p>
        </p:txBody>
      </p:sp>
      <p:sp>
        <p:nvSpPr>
          <p:cNvPr id="187" name="When: Nov – Dec 2026"/>
          <p:cNvSpPr/>
          <p:nvPr/>
        </p:nvSpPr>
        <p:spPr>
          <a:xfrm>
            <a:off x="384048" y="2205228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Nov – Dec 2026</a:t>
            </a:r>
          </a:p>
        </p:txBody>
      </p:sp>
      <p:sp>
        <p:nvSpPr>
          <p:cNvPr id="188" name="Plan: Nov – Dec 2026"/>
          <p:cNvSpPr/>
          <p:nvPr/>
        </p:nvSpPr>
        <p:spPr>
          <a:xfrm>
            <a:off x="2121408" y="2205228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Head of department approval; ethics committee review; hospital IT sign-off; patient notice and consent for messaging</a:t>
            </a:r>
          </a:p>
        </p:txBody>
      </p:sp>
      <p:sp>
        <p:nvSpPr>
          <p:cNvPr id="189" name="When: Jan 2027"/>
          <p:cNvSpPr/>
          <p:nvPr/>
        </p:nvSpPr>
        <p:spPr>
          <a:xfrm>
            <a:off x="384048" y="3038856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Jan 2027</a:t>
            </a:r>
          </a:p>
        </p:txBody>
      </p:sp>
      <p:sp>
        <p:nvSpPr>
          <p:cNvPr id="190" name="Plan: Jan 2027"/>
          <p:cNvSpPr/>
          <p:nvPr/>
        </p:nvSpPr>
        <p:spPr>
          <a:xfrm>
            <a:off x="2121408" y="3038856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Pilot phase 1, two weeks: measure today's waits with the day board</a:t>
            </a:r>
          </a:p>
        </p:txBody>
      </p:sp>
      <p:sp>
        <p:nvSpPr>
          <p:cNvPr id="191" name="When: Feb 2027"/>
          <p:cNvSpPr/>
          <p:nvPr/>
        </p:nvSpPr>
        <p:spPr>
          <a:xfrm>
            <a:off x="384048" y="3872483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Feb 2027</a:t>
            </a:r>
          </a:p>
        </p:txBody>
      </p:sp>
      <p:sp>
        <p:nvSpPr>
          <p:cNvPr id="192" name="Plan: Feb 2027"/>
          <p:cNvSpPr/>
          <p:nvPr/>
        </p:nvSpPr>
        <p:spPr>
          <a:xfrm>
            <a:off x="2121408" y="3872483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Pilot phase 2, three weeks in shadow mode: RAD-SMART proposes, staff still schedule by hand, and we compare</a:t>
            </a:r>
          </a:p>
        </p:txBody>
      </p:sp>
      <p:sp>
        <p:nvSpPr>
          <p:cNvPr id="193" name="When: Feb – Apr 2027"/>
          <p:cNvSpPr/>
          <p:nvPr/>
        </p:nvSpPr>
        <p:spPr>
          <a:xfrm>
            <a:off x="384048" y="4706112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Feb – Apr 2027</a:t>
            </a:r>
          </a:p>
        </p:txBody>
      </p:sp>
      <p:sp>
        <p:nvSpPr>
          <p:cNvPr id="194" name="Plan: Feb – Apr 2027"/>
          <p:cNvSpPr/>
          <p:nvPr/>
        </p:nvSpPr>
        <p:spPr>
          <a:xfrm>
            <a:off x="2121408" y="4706112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Pilot phase 3, eight weeks live; retrain the minute model on real minutes. Target: 90th-percentile wait at least 25% below 109 min</a:t>
            </a:r>
          </a:p>
        </p:txBody>
      </p:sp>
      <p:sp>
        <p:nvSpPr>
          <p:cNvPr id="195" name="When: Later in 2027"/>
          <p:cNvSpPr/>
          <p:nvPr/>
        </p:nvSpPr>
        <p:spPr>
          <a:xfrm>
            <a:off x="384048" y="5539740"/>
            <a:ext cx="1600200" cy="723900"/>
          </a:xfrm>
          <a:prstGeom prst="roundRect">
            <a:avLst>
              <a:gd name="adj" fmla="val 10105"/>
            </a:avLst>
          </a:prstGeom>
          <a:solidFill>
            <a:srgbClr val="EDF0FA"/>
          </a:solidFill>
          <a:ln>
            <a:noFill/>
          </a:ln>
        </p:spPr>
        <p:txBody>
          <a:bodyPr rtlCol="0" anchor="ctr" wrap="square" lIns="109728" rIns="109728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32F3E"/>
                </a:solidFill>
                <a:latin typeface="Arial"/>
              </a:rPr>
              <a:t>Later in 2027</a:t>
            </a:r>
          </a:p>
        </p:txBody>
      </p:sp>
      <p:sp>
        <p:nvSpPr>
          <p:cNvPr id="196" name="Plan: Later in 2027"/>
          <p:cNvSpPr/>
          <p:nvPr/>
        </p:nvSpPr>
        <p:spPr>
          <a:xfrm>
            <a:off x="2121408" y="5539740"/>
            <a:ext cx="5669279" cy="723900"/>
          </a:xfrm>
          <a:prstGeom prst="roundRect">
            <a:avLst>
              <a:gd name="adj" fmla="val 10105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WhatsApp Business API, spoken replies, the second machine, a read-only OIS feed, and the plugin offered to other CARE hospitals</a:t>
            </a:r>
          </a:p>
        </p:txBody>
      </p:sp>
      <p:sp>
        <p:nvSpPr>
          <p:cNvPr id="197" name="Pilot budget"/>
          <p:cNvSpPr/>
          <p:nvPr/>
        </p:nvSpPr>
        <p:spPr>
          <a:xfrm>
            <a:off x="8019288" y="1371600"/>
            <a:ext cx="3685032" cy="1691640"/>
          </a:xfrm>
          <a:prstGeom prst="roundRect">
            <a:avLst>
              <a:gd name="adj" fmla="val 4324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PILOT BUDGET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Up to about ₹2.3 lakh for a server, tablets and a QR scanner, or close to nothing on existing hospital PCs and a VM; Sarvam about ₹5,000–10,000 a year. No licence fee.</a:t>
            </a:r>
          </a:p>
        </p:txBody>
      </p:sp>
      <p:sp>
        <p:nvSpPr>
          <p:cNvPr id="198" name="Public"/>
          <p:cNvSpPr/>
          <p:nvPr/>
        </p:nvSpPr>
        <p:spPr>
          <a:xfrm>
            <a:off x="8019288" y="3246120"/>
            <a:ext cx="3685032" cy="3017520"/>
          </a:xfrm>
          <a:prstGeom prst="roundRect">
            <a:avLst>
              <a:gd name="adj" fmla="val 2424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MAKE THE SOLUTION PUBLIC?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0D8743"/>
                </a:solidFill>
                <a:latin typeface="Arial"/>
              </a:rPr>
              <a:t>Yes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The code, website, deck, research paper and demo video are already public and open source.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lth-a-thon 2026 logo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731520"/>
            <a:ext cx="6675120" cy="91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D8743"/>
                </a:solidFill>
                <a:latin typeface="Arial"/>
                <a:ea typeface="Arial"/>
                <a:cs typeface="Arial"/>
                <a:sym typeface="Arial"/>
              </a:rPr>
              <a:t>RAD-SMART  •  YU8PAK</a:t>
            </a:r>
            <a:endParaRPr/>
          </a:p>
        </p:txBody>
      </p:sp>
      <p:sp>
        <p:nvSpPr>
          <p:cNvPr id="192" name="Google Shape;192;p13"/>
          <p:cNvSpPr txBox="1"/>
          <p:nvPr/>
        </p:nvSpPr>
        <p:spPr>
          <a:xfrm>
            <a:off x="1371600" y="3886200"/>
            <a:ext cx="9418320" cy="2585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D6A79"/>
                </a:solidFill>
                <a:latin typeface="Arial"/>
              </a:rPr>
              <a:t>Contact:  </a:t>
            </a:r>
            <a:r>
              <a:rPr sz="1200" b="0" i="0">
                <a:solidFill>
                  <a:srgbClr val="5D6A79"/>
                </a:solidFill>
                <a:latin typeface="Arial"/>
              </a:rPr>
              <a:t>Dr Akshay Dinesan (team leader), Manipal, akshay.dinesan@manipal.edu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D6A79"/>
                </a:solidFill>
                <a:latin typeface="Arial"/>
              </a:rPr>
              <a:t>MVP and website:  </a:t>
            </a:r>
            <a:r>
              <a:rPr sz="1200" b="0" i="0">
                <a:solidFill>
                  <a:srgbClr val="1F3DA9"/>
                </a:solidFill>
                <a:latin typeface="Arial"/>
                <a:hlinkClick r:id="rId4"/>
              </a:rPr>
              <a:t>psraghothamrao8.github.io/RAD-SMART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D6A79"/>
                </a:solidFill>
                <a:latin typeface="Arial"/>
              </a:rPr>
              <a:t>Demo video:  </a:t>
            </a:r>
            <a:r>
              <a:rPr sz="1200" b="0" i="0">
                <a:solidFill>
                  <a:srgbClr val="1F3DA9"/>
                </a:solidFill>
                <a:latin typeface="Arial"/>
                <a:hlinkClick r:id="rId5"/>
              </a:rPr>
              <a:t>psraghothamrao8.github.io/RAD-SMART/#demo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5D6A79"/>
                </a:solidFill>
                <a:latin typeface="Arial"/>
              </a:rPr>
              <a:t>Code repository:  </a:t>
            </a:r>
            <a:r>
              <a:rPr sz="1200" b="0" i="0">
                <a:solidFill>
                  <a:srgbClr val="1F3DA9"/>
                </a:solidFill>
                <a:latin typeface="Arial"/>
                <a:hlinkClick r:id="rId6"/>
              </a:rPr>
              <a:t>github.com/psraghothamrao8/RAD-SMART</a:t>
            </a:r>
          </a:p>
        </p:txBody>
      </p:sp>
      <p:sp>
        <p:nvSpPr>
          <p:cNvPr id="193" name="Google Shape;193;p13"/>
          <p:cNvSpPr txBox="1"/>
          <p:nvPr/>
        </p:nvSpPr>
        <p:spPr>
          <a:xfrm>
            <a:off x="1828800" y="51206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Health-a-thon 2026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530352" y="6565392"/>
            <a:ext cx="7132320" cy="196977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lth-a-thon 2026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828800" cy="250928"/>
          </a:xfrm>
          <a:prstGeom prst="rect">
            <a:avLst/>
          </a:prstGeom>
        </p:spPr>
      </p:pic>
      <p:sp>
        <p:nvSpPr>
          <p:cNvPr id="157" name="Google Shape;157;p9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Evaluation and User Validation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59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The AI parts are measured, and the department's feedback and our tests changed the design</a:t>
            </a:r>
          </a:p>
        </p:txBody>
      </p:sp>
      <p:sp>
        <p:nvSpPr>
          <p:cNvPr id="160" name="Stat: 2.15 min"/>
          <p:cNvSpPr/>
          <p:nvPr/>
        </p:nvSpPr>
        <p:spPr>
          <a:xfrm>
            <a:off x="384048" y="1371600"/>
            <a:ext cx="2147011" cy="1463040"/>
          </a:xfrm>
          <a:prstGeom prst="roundRect">
            <a:avLst>
              <a:gd name="adj" fmla="val 50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2.15 min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session-length error on 2,000 held-out synthetic sessions (2.62 for a table of averages)</a:t>
            </a:r>
          </a:p>
        </p:txBody>
      </p:sp>
      <p:sp>
        <p:nvSpPr>
          <p:cNvPr id="161" name="Stat: 7.1 s"/>
          <p:cNvSpPr/>
          <p:nvPr/>
        </p:nvSpPr>
        <p:spPr>
          <a:xfrm>
            <a:off x="2677363" y="1371600"/>
            <a:ext cx="2147011" cy="1463040"/>
          </a:xfrm>
          <a:prstGeom prst="roundRect">
            <a:avLst>
              <a:gd name="adj" fmla="val 50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7.1 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to a proven optimum for an 87-patient day, about 4,800 variables, on a laptop</a:t>
            </a:r>
          </a:p>
        </p:txBody>
      </p:sp>
      <p:sp>
        <p:nvSpPr>
          <p:cNvPr id="162" name="Stat: 112 / 112"/>
          <p:cNvSpPr/>
          <p:nvPr/>
        </p:nvSpPr>
        <p:spPr>
          <a:xfrm>
            <a:off x="4970678" y="1371600"/>
            <a:ext cx="2147011" cy="1463040"/>
          </a:xfrm>
          <a:prstGeom prst="roundRect">
            <a:avLst>
              <a:gd name="adj" fmla="val 50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112 / 112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Sarvam translations kept every clock time: Kannada, Malayalam, Hindi, Konkani</a:t>
            </a:r>
          </a:p>
        </p:txBody>
      </p:sp>
      <p:sp>
        <p:nvSpPr>
          <p:cNvPr id="163" name="Stat: 76–80"/>
          <p:cNvSpPr/>
          <p:nvPr/>
        </p:nvSpPr>
        <p:spPr>
          <a:xfrm>
            <a:off x="7263993" y="1371600"/>
            <a:ext cx="2147011" cy="1463040"/>
          </a:xfrm>
          <a:prstGeom prst="roundRect">
            <a:avLst>
              <a:gd name="adj" fmla="val 50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76–80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median back-translation score (chrF) by language: meaning kept, a rough check</a:t>
            </a:r>
          </a:p>
        </p:txBody>
      </p:sp>
      <p:sp>
        <p:nvSpPr>
          <p:cNvPr id="164" name="Stat: 20 / 20"/>
          <p:cNvSpPr/>
          <p:nvPr/>
        </p:nvSpPr>
        <p:spPr>
          <a:xfrm>
            <a:off x="9557308" y="1371600"/>
            <a:ext cx="2147011" cy="1463040"/>
          </a:xfrm>
          <a:prstGeom prst="roundRect">
            <a:avLst>
              <a:gd name="adj" fmla="val 5000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1F3DA9"/>
                </a:solidFill>
                <a:latin typeface="Arial"/>
              </a:rPr>
              <a:t>20 / 20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Sarvam-105B explanations accepted, with no invented time</a:t>
            </a:r>
          </a:p>
        </p:txBody>
      </p:sp>
      <p:sp>
        <p:nvSpPr>
          <p:cNvPr id="165" name="User validation"/>
          <p:cNvSpPr/>
          <p:nvPr/>
        </p:nvSpPr>
        <p:spPr>
          <a:xfrm>
            <a:off x="384048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USER VALIDATION SO FAR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32F3E"/>
                </a:solidFill>
                <a:latin typeface="Calibri"/>
              </a:rPr>
              <a:t>The department's technologists and doctors</a:t>
            </a:r>
            <a:r>
              <a:rPr sz="1300" b="0" i="0">
                <a:solidFill>
                  <a:srgbClr val="232F3E"/>
                </a:solidFill>
                <a:latin typeface="Calibri"/>
              </a:rPr>
              <a:t> answered in writing on 21 Sep and 24 Oct: roles, standing slots, breakdown rules and the screens they need. All of it is built.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32F3E"/>
                </a:solidFill>
                <a:latin typeface="Calibri"/>
              </a:rPr>
              <a:t>Planned before 8 Nov:</a:t>
            </a:r>
            <a:r>
              <a:rPr sz="1300" b="0" i="0">
                <a:solidFill>
                  <a:srgbClr val="232F3E"/>
                </a:solidFill>
                <a:latin typeface="Calibri"/>
              </a:rPr>
              <a:t> technologists run the demo day on the app, and native speakers rate all 112 translations (the rating sheet is ready).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232F3E"/>
                </a:solidFill>
                <a:latin typeface="Calibri"/>
              </a:rPr>
              <a:t>Evidence:</a:t>
            </a:r>
            <a:r>
              <a:rPr sz="1300" b="0" i="0">
                <a:solidFill>
                  <a:srgbClr val="232F3E"/>
                </a:solidFill>
                <a:latin typeface="Calibri"/>
              </a:rPr>
              <a:t> every translation with its back-translation, and the full results, are in docs/evaluation in the code repository.</a:t>
            </a:r>
          </a:p>
        </p:txBody>
      </p:sp>
      <p:sp>
        <p:nvSpPr>
          <p:cNvPr id="166" name="Improvements"/>
          <p:cNvSpPr/>
          <p:nvPr/>
        </p:nvSpPr>
        <p:spPr>
          <a:xfrm>
            <a:off x="4218432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IMPROVED FROM THE RESULTS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D8743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The time check reads times in every Indian script; Kannada suffixes were missed at first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D8743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Messages name the date: Konkani turned "the next working day" into "next week"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D8743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Explanations use the time in force, not the proposed one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D8743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An unclear patient button was reworded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0D8743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20 automated safety tests now guard all of this</a:t>
            </a:r>
          </a:p>
        </p:txBody>
      </p:sp>
      <p:sp>
        <p:nvSpPr>
          <p:cNvPr id="167" name="Limitations"/>
          <p:cNvSpPr/>
          <p:nvPr/>
        </p:nvSpPr>
        <p:spPr>
          <a:xfrm>
            <a:off x="8052816" y="3063240"/>
            <a:ext cx="3651504" cy="3200399"/>
          </a:xfrm>
          <a:prstGeom prst="roundRect">
            <a:avLst>
              <a:gd name="adj" fmla="val 2285"/>
            </a:avLst>
          </a:prstGeom>
          <a:solidFill>
            <a:srgbClr val="F2F4F6"/>
          </a:solidFill>
          <a:ln>
            <a:noFill/>
          </a:ln>
        </p:spPr>
        <p:txBody>
          <a:bodyPr rtlCol="0" anchor="t" wrap="square" lIns="146304" rIns="146304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5D6A79"/>
                </a:solidFill>
                <a:latin typeface="Arial"/>
              </a:rPr>
              <a:t>LIMITATIONS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5D6A79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Scheduling results are a replay, not a live trial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5D6A79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Session lengths are synthetic until the board records real ones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5D6A79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If patients keep arriving very early, the busy-day wait is 110 min, not 76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5D6A79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Back-translation is a rough check; native speakers must rate</a:t>
            </a:r>
          </a:p>
          <a:p>
            <a:pPr algn="l" marL="155448" indent="-155448">
              <a:lnSpc>
                <a:spcPct val="100000"/>
              </a:lnSpc>
              <a:spcAft>
                <a:spcPts val="400"/>
              </a:spcAft>
              <a:buClr>
                <a:srgbClr val="5D6A79"/>
              </a:buClr>
              <a:buFont typeface="Arial"/>
              <a:buChar char="•"/>
            </a:pPr>
            <a:r>
              <a:rPr sz="1300" b="0" i="0">
                <a:solidFill>
                  <a:srgbClr val="232F3E"/>
                </a:solidFill>
                <a:latin typeface="Calibri"/>
              </a:rPr>
              <a:t>Sarvam has no Tulu model: Tulu speakers get Kannada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lth-a-thon 2026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828800" cy="250928"/>
          </a:xfrm>
          <a:prstGeom prst="rect">
            <a:avLst/>
          </a:prstGeom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Solution Overview, Key Features &amp; Impact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•  FINAL SUBMISSION</a:t>
            </a:r>
            <a:endParaRPr/>
          </a:p>
        </p:txBody>
      </p:sp>
      <p:sp>
        <p:nvSpPr>
          <p:cNvPr id="125" name="Message"/>
          <p:cNvSpPr txBox="1"/>
          <p:nvPr/>
        </p:nvSpPr>
        <p:spPr>
          <a:xfrm>
            <a:off x="384048" y="841248"/>
            <a:ext cx="113202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5D6A79"/>
                </a:solidFill>
                <a:latin typeface="Calibri"/>
              </a:rPr>
              <a:t>The journey, from the doctor's course entry to the patient's phone, and the impact we expect</a:t>
            </a:r>
          </a:p>
        </p:txBody>
      </p:sp>
      <p:sp>
        <p:nvSpPr>
          <p:cNvPr id="126" name="Journey 1: Enter the course"/>
          <p:cNvSpPr/>
          <p:nvPr/>
        </p:nvSpPr>
        <p:spPr>
          <a:xfrm>
            <a:off x="384048" y="1371600"/>
            <a:ext cx="2044598" cy="2377440"/>
          </a:xfrm>
          <a:prstGeom prst="roundRect">
            <a:avLst>
              <a:gd name="adj" fmla="val 357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DOCTOR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Enter the course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In: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Prescription, technique, needs and a priority checklist, from the visit in CARE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Out: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 first day and a standing time, with reasons and an alternative</a:t>
            </a:r>
          </a:p>
        </p:txBody>
      </p:sp>
      <p:sp>
        <p:nvSpPr>
          <p:cNvPr id="127" name="Arrow"/>
          <p:cNvSpPr/>
          <p:nvPr/>
        </p:nvSpPr>
        <p:spPr>
          <a:xfrm>
            <a:off x="2474366" y="2423160"/>
            <a:ext cx="182880" cy="22860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Journey 2: Approve"/>
          <p:cNvSpPr/>
          <p:nvPr/>
        </p:nvSpPr>
        <p:spPr>
          <a:xfrm>
            <a:off x="2702966" y="1371600"/>
            <a:ext cx="2044598" cy="2377440"/>
          </a:xfrm>
          <a:prstGeom prst="roundRect">
            <a:avLst>
              <a:gd name="adj" fmla="val 357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DOCTOR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Approve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In: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The proposal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Out: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The course is booked; the patient's link and QR code are ready</a:t>
            </a:r>
          </a:p>
        </p:txBody>
      </p:sp>
      <p:sp>
        <p:nvSpPr>
          <p:cNvPr id="129" name="Arrow"/>
          <p:cNvSpPr/>
          <p:nvPr/>
        </p:nvSpPr>
        <p:spPr>
          <a:xfrm>
            <a:off x="4793284" y="2423160"/>
            <a:ext cx="182880" cy="22860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Journey 3: Run the day"/>
          <p:cNvSpPr/>
          <p:nvPr/>
        </p:nvSpPr>
        <p:spPr>
          <a:xfrm>
            <a:off x="5021884" y="1371600"/>
            <a:ext cx="2044598" cy="2377440"/>
          </a:xfrm>
          <a:prstGeom prst="roundRect">
            <a:avLst>
              <a:gd name="adj" fmla="val 357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TECHNOLOGIST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Run the day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In: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Arrived, in room and out taps on the day board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Out: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 live rule check; real session minutes recorded</a:t>
            </a:r>
          </a:p>
        </p:txBody>
      </p:sp>
      <p:sp>
        <p:nvSpPr>
          <p:cNvPr id="131" name="Arrow"/>
          <p:cNvSpPr/>
          <p:nvPr/>
        </p:nvSpPr>
        <p:spPr>
          <a:xfrm>
            <a:off x="7112203" y="2423160"/>
            <a:ext cx="182880" cy="22860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Journey 4: Breakdown"/>
          <p:cNvSpPr/>
          <p:nvPr/>
        </p:nvSpPr>
        <p:spPr>
          <a:xfrm>
            <a:off x="7340803" y="1371600"/>
            <a:ext cx="2044598" cy="2377440"/>
          </a:xfrm>
          <a:prstGeom prst="roundRect">
            <a:avLst>
              <a:gd name="adj" fmla="val 3577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TECHNOLOGIST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Breakdown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In: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The fault and its expected length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Out: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 re-plan in seconds; a person approves it</a:t>
            </a:r>
          </a:p>
        </p:txBody>
      </p:sp>
      <p:sp>
        <p:nvSpPr>
          <p:cNvPr id="133" name="Arrow"/>
          <p:cNvSpPr/>
          <p:nvPr/>
        </p:nvSpPr>
        <p:spPr>
          <a:xfrm>
            <a:off x="9431121" y="2423160"/>
            <a:ext cx="182880" cy="228600"/>
          </a:xfrm>
          <a:prstGeom prst="rightArrow">
            <a:avLst/>
          </a:prstGeom>
          <a:solidFill>
            <a:srgbClr val="5D6A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Journey 5: Is told"/>
          <p:cNvSpPr/>
          <p:nvPr/>
        </p:nvSpPr>
        <p:spPr>
          <a:xfrm>
            <a:off x="9659721" y="1371600"/>
            <a:ext cx="2044598" cy="2377440"/>
          </a:xfrm>
          <a:prstGeom prst="roundRect">
            <a:avLst>
              <a:gd name="adj" fmla="val 3577"/>
            </a:avLst>
          </a:prstGeom>
          <a:solidFill>
            <a:srgbClr val="E8F4EC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0D8743"/>
                </a:solidFill>
                <a:latin typeface="Arial"/>
              </a:rPr>
              <a:t>PATIENT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32F3E"/>
                </a:solidFill>
                <a:latin typeface="Arial"/>
              </a:rPr>
              <a:t>Is told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In: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The approved time or change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232F3E"/>
                </a:solidFill>
                <a:latin typeface="Calibri"/>
              </a:rPr>
              <a:t>Out:</a:t>
            </a:r>
            <a:r>
              <a:rPr sz="1200" b="0" i="0">
                <a:solidFill>
                  <a:srgbClr val="232F3E"/>
                </a:solidFill>
                <a:latin typeface="Calibri"/>
              </a:rPr>
              <a:t> A WhatsApp message and voice note in their language; check-in by QR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4048" y="3977639"/>
            <a:ext cx="113202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 spc="60">
                <a:solidFill>
                  <a:srgbClr val="1F3DA9"/>
                </a:solidFill>
                <a:latin typeface="Arial"/>
              </a:rPr>
              <a:t>EXPECTED IMPACT</a:t>
            </a:r>
          </a:p>
        </p:txBody>
      </p:sp>
      <p:sp>
        <p:nvSpPr>
          <p:cNvPr id="136" name="Stat: −35%"/>
          <p:cNvSpPr/>
          <p:nvPr/>
        </p:nvSpPr>
        <p:spPr>
          <a:xfrm>
            <a:off x="384048" y="4297680"/>
            <a:ext cx="2692908" cy="1234440"/>
          </a:xfrm>
          <a:prstGeom prst="roundRect">
            <a:avLst>
              <a:gd name="adj" fmla="val 592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F3DA9"/>
                </a:solidFill>
                <a:latin typeface="Arial"/>
              </a:rPr>
              <a:t>−35%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90th-percentile wait on the department's 55 days: 108.6 → 70.4 min</a:t>
            </a:r>
          </a:p>
        </p:txBody>
      </p:sp>
      <p:sp>
        <p:nvSpPr>
          <p:cNvPr id="137" name="Stat: 22% → 5.7%"/>
          <p:cNvSpPr/>
          <p:nvPr/>
        </p:nvSpPr>
        <p:spPr>
          <a:xfrm>
            <a:off x="3259836" y="4297680"/>
            <a:ext cx="2692908" cy="1234440"/>
          </a:xfrm>
          <a:prstGeom prst="roundRect">
            <a:avLst>
              <a:gd name="adj" fmla="val 592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F3DA9"/>
                </a:solidFill>
                <a:latin typeface="Arial"/>
              </a:rPr>
              <a:t>22% → 5.7%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of patients treated more than an hour late</a:t>
            </a:r>
          </a:p>
        </p:txBody>
      </p:sp>
      <p:sp>
        <p:nvSpPr>
          <p:cNvPr id="138" name="Stat: 29% → 50%"/>
          <p:cNvSpPr/>
          <p:nvPr/>
        </p:nvSpPr>
        <p:spPr>
          <a:xfrm>
            <a:off x="6135624" y="4297680"/>
            <a:ext cx="2692908" cy="1234440"/>
          </a:xfrm>
          <a:prstGeom prst="roundRect">
            <a:avLst>
              <a:gd name="adj" fmla="val 592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F3DA9"/>
                </a:solidFill>
                <a:latin typeface="Arial"/>
              </a:rPr>
              <a:t>29% → 50%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of patients treated within 15 minutes of their time</a:t>
            </a:r>
          </a:p>
        </p:txBody>
      </p:sp>
      <p:sp>
        <p:nvSpPr>
          <p:cNvPr id="139" name="Stat: 104 → 39 min"/>
          <p:cNvSpPr/>
          <p:nvPr/>
        </p:nvSpPr>
        <p:spPr>
          <a:xfrm>
            <a:off x="9011412" y="4297680"/>
            <a:ext cx="2692908" cy="1234440"/>
          </a:xfrm>
          <a:prstGeom prst="roundRect">
            <a:avLst>
              <a:gd name="adj" fmla="val 5925"/>
            </a:avLst>
          </a:prstGeom>
          <a:solidFill>
            <a:srgbClr val="EDF0FA"/>
          </a:solidFill>
          <a:ln>
            <a:noFill/>
          </a:ln>
        </p:spPr>
        <p:txBody>
          <a:bodyPr rtlCol="0" anchor="t" wrap="square" lIns="128016" rIns="128016" tIns="91440" bIns="9144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F3DA9"/>
                </a:solidFill>
                <a:latin typeface="Arial"/>
              </a:rPr>
              <a:t>104 → 39 min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232F3E"/>
                </a:solidFill>
                <a:latin typeface="Calibri"/>
              </a:rPr>
              <a:t>median wait after a 150-min breakdown, re-planned live; new plan in 14 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4048" y="5669280"/>
            <a:ext cx="113202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>
                <a:solidFill>
                  <a:srgbClr val="5D6A79"/>
                </a:solidFill>
                <a:latin typeface="Calibri"/>
              </a:rPr>
              <a:t>Replayed in a digital twin calibrated on the department's records (it reproduces today's long wait: 106 against 109 min), and on synthetic breakdown days. Not yet a live trial: the 90-day pilot targets a 90th-percentile wait at least 25% below 109 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92146663855]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